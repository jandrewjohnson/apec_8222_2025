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 economists, we are comfortable with identification strategies. However, we often assume linear separability in our controls. Causal ML allows us to relax the assumption of functional form for control variables.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ML is not a magic wand for bad research design. If you have unobserved confounding, a Random Forest will just overfit the bias. We still need rigorous identification.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Application: Estimating demand elasticity with high-dimensional consumer characteristics.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Application: Program evaluation (e.g., job training) where selection bias is driven by complex observables.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Application: Demand estimation where instrument affects price in a highly non-linear 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Application: Targeted marketing or personalized medicine—identifying subgroups.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an economic context, this is akin to a minimum wage study finding positive effects in concentrated labor markets but negative effects in competitive 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Integrating Machine Learning into Causal Inference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Beyond Prediction: Tools for High-Dimensional Econometrics</a:t>
            </a:r>
          </a:p>
          <a:p>
            <a:r>
              <a:t>Based on: Arif, S. (2025)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Econometric Problem: Functional Form &amp; Dimensionality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Limitation of OLS</a:t>
            </a:r>
          </a:p>
          <a:p>
            <a:pPr lvl="1"/>
            <a:r>
              <a:t>Standard identification requires conditioning on confounders (Z).</a:t>
            </a:r>
          </a:p>
          <a:p>
            <a:pPr lvl="1"/>
            <a:r>
              <a:t>In high-dimensional datasets, relationships between Z and Y are complex/non-linear.</a:t>
            </a:r>
          </a:p>
          <a:p>
            <a:pPr lvl="1"/>
            <a:r>
              <a:t>Risk of specification search ('p-hacking') or omitted variable bias.</a:t>
            </a:r>
          </a:p>
          <a:p>
            <a:r>
              <a:t>The ML Opportunity</a:t>
            </a:r>
          </a:p>
          <a:p>
            <a:pPr lvl="1"/>
            <a:r>
              <a:t>Standard ML minimizes MSE for prediction but is biased for parameters.</a:t>
            </a:r>
          </a:p>
          <a:p>
            <a:pPr lvl="1"/>
            <a:r>
              <a:t>Causal ML learns 'nuisance functions' flexibly to isolate structural parameters.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Identification remains 'King'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Algorithms ≠ Identification</a:t>
            </a:r>
          </a:p>
          <a:p>
            <a:pPr lvl="1"/>
            <a:r>
              <a:t>No algorithm corrects for fundamental endogeneity without a valid strategy (IV, DAGs).</a:t>
            </a:r>
          </a:p>
          <a:p>
            <a:r>
              <a:t>The Workflow:</a:t>
            </a:r>
          </a:p>
          <a:p>
            <a:pPr lvl="1"/>
            <a:r>
              <a:t>1. Structural Model: Define causal graph (DAG) or Potential Outcomes.</a:t>
            </a:r>
          </a:p>
          <a:p>
            <a:pPr lvl="1"/>
            <a:r>
              <a:t>2. Identification: Establish backdoor criterion or valid instrument.</a:t>
            </a:r>
          </a:p>
          <a:p>
            <a:pPr lvl="1"/>
            <a:r>
              <a:t>3. Estimation: Use ML to estimate conditional expectations E[Y|Z] non-parametrically.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Double Machine Learning (DML)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'Frisch-Waugh-Lovell' of ML</a:t>
            </a:r>
          </a:p>
          <a:p>
            <a:pPr lvl="1"/>
            <a:r>
              <a:t>Theoretical Basis: Chernozhukov et al. (2018).</a:t>
            </a:r>
          </a:p>
          <a:p>
            <a:r>
              <a:t>Mechanism:</a:t>
            </a:r>
          </a:p>
          <a:p>
            <a:pPr lvl="1"/>
            <a:r>
              <a:t>1. Partialling Out: Predict Y from Z and D from Z.</a:t>
            </a:r>
          </a:p>
          <a:p>
            <a:pPr lvl="1"/>
            <a:r>
              <a:t>2. Residuals: Calculate residuals for Y and D.</a:t>
            </a:r>
          </a:p>
          <a:p>
            <a:pPr lvl="1"/>
            <a:r>
              <a:t>3. Inference: Regress residuals of Y on residuals of D.</a:t>
            </a:r>
          </a:p>
          <a:p>
            <a:r>
              <a:t>Why it works:</a:t>
            </a:r>
          </a:p>
          <a:p>
            <a:pPr lvl="1"/>
            <a:r>
              <a:t>Cross-fitting: Splits sample to avoid overfitting bias.</a:t>
            </a:r>
          </a:p>
          <a:p>
            <a:pPr lvl="1"/>
            <a:r>
              <a:t>Achieves root-N consistency for treatment coefficient.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Targeted Maximum Likelihood Estimation (TMLE)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Efficiency in Binary Treatment Evaluation</a:t>
            </a:r>
          </a:p>
          <a:p>
            <a:pPr lvl="1"/>
            <a:r>
              <a:t>Concept: A doubly robust estimator (Van der Laan &amp; Rubin, 2006).</a:t>
            </a:r>
          </a:p>
          <a:p>
            <a:pPr lvl="1"/>
            <a:r>
              <a:t>Different from DML: Updates initial outcome estimate using a 'clever covariate' derived from propensity score.</a:t>
            </a:r>
          </a:p>
          <a:p>
            <a:r>
              <a:t>Properties:</a:t>
            </a:r>
          </a:p>
          <a:p>
            <a:pPr lvl="1"/>
            <a:r>
              <a:t>Double Robustness: Consistent if either propensity score OR outcome model is correct.</a:t>
            </a:r>
          </a:p>
          <a:p>
            <a:pPr lvl="1"/>
            <a:r>
              <a:t>Efficiency: Asymptotically efficient (lowest variance).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Deep Instrumental Variables (Deep IV)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Handling Non-Linearity in 2SLS</a:t>
            </a:r>
          </a:p>
          <a:p>
            <a:pPr lvl="1"/>
            <a:r>
              <a:t>Problem: If 1st stage relationship (D on Z) is non-linear, standard 2SLS is weak.</a:t>
            </a:r>
          </a:p>
          <a:p>
            <a:r>
              <a:t>The Solution:</a:t>
            </a:r>
          </a:p>
          <a:p>
            <a:pPr lvl="1"/>
            <a:r>
              <a:t>Use Deep Neural Networks to model instrument compliance function g(Z).</a:t>
            </a:r>
          </a:p>
          <a:p>
            <a:pPr lvl="1"/>
            <a:r>
              <a:t>Maintains exclusion restriction (Z ⊥ ε).</a:t>
            </a:r>
          </a:p>
          <a:p>
            <a:r>
              <a:t>Deep IV (Hartford et al., 2017):</a:t>
            </a:r>
          </a:p>
          <a:p>
            <a:pPr lvl="1"/>
            <a:r>
              <a:t>Projects inputs into a latent distribution to recover structural function.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Causal Forests &amp; Heterogeneity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Uncovering 'For Whom' the Policy Works</a:t>
            </a:r>
          </a:p>
          <a:p>
            <a:pPr lvl="1"/>
            <a:r>
              <a:t>Theoretical Basis: Athey &amp; Imbens (2016); Wager &amp; Athey (2018).</a:t>
            </a:r>
          </a:p>
          <a:p>
            <a:r>
              <a:t>Goal:</a:t>
            </a:r>
          </a:p>
          <a:p>
            <a:pPr lvl="1"/>
            <a:r>
              <a:t>Estimate Conditional Average Treatment Effects (CATE): τ(x).</a:t>
            </a:r>
          </a:p>
          <a:p>
            <a:r>
              <a:t>Mechanism:</a:t>
            </a:r>
          </a:p>
          <a:p>
            <a:pPr lvl="1"/>
            <a:r>
              <a:t>Adapts Random Forests to maximize heterogeneity in effects.</a:t>
            </a:r>
          </a:p>
          <a:p>
            <a:pPr lvl="1"/>
            <a:r>
              <a:t>'Honest' Splitting: Separate subsamples for tree structure vs. estimation.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Study: Non-Linearities (Ecological Analogy)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Scenario: Estimating effect of environmental input (Depth) on output.</a:t>
            </a:r>
          </a:p>
          <a:p>
            <a:pPr lvl="1"/>
            <a:r>
              <a:t>Standard OLS: Assumes constant marginal effect.</a:t>
            </a:r>
          </a:p>
          <a:p>
            <a:r>
              <a:t>Causal Forest Result:</a:t>
            </a:r>
          </a:p>
          <a:p>
            <a:pPr lvl="1"/>
            <a:r>
              <a:t>Identified regime shifts: Effect positive in Region A, zero in Region B.</a:t>
            </a:r>
          </a:p>
          <a:p>
            <a:pPr lvl="1"/>
            <a:r>
              <a:t>Driven by interacting stressors.</a:t>
            </a:r>
          </a:p>
          <a:p>
            <a:r>
              <a:t>Implication:</a:t>
            </a:r>
          </a:p>
          <a:p>
            <a:pPr lvl="1"/>
            <a:r>
              <a:t>Standard ATE would mask these offsetting effects, leading to suboptimal allocation.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Choosing the Right Estimator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3657600"/>
              </a:tblGrid>
              <a:tr h="146304">
                <a:tc>
                  <a:txBody>
                    <a:bodyPr/>
                    <a:lstStyle/>
                    <a:p>
                      <a:r>
                        <a:t>Econometric Challenge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Recommended 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Key Advantage</a:t>
                      </a:r>
                    </a:p>
                  </a:txBody>
                  <a:tcPr/>
                </a:tc>
              </a:tr>
              <a:tr h="146304">
                <a:tc>
                  <a:txBody>
                    <a:bodyPr/>
                    <a:lstStyle/>
                    <a:p>
                      <a:r>
                        <a:t>High-Dim Controls (N &lt; 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Double ML (DML)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Handles complex nuisance parameters; familiar regression output.</a:t>
                      </a:r>
                    </a:p>
                  </a:txBody>
                  <a:tcPr/>
                </a:tc>
              </a:tr>
              <a:tr h="146304">
                <a:tc>
                  <a:txBody>
                    <a:bodyPr/>
                    <a:lstStyle/>
                    <a:p>
                      <a:r>
                        <a:t>Binary Policy / RCT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TMLE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Maximum efficiency; Doubly Robust protection.</a:t>
                      </a:r>
                    </a:p>
                  </a:txBody>
                  <a:tcPr/>
                </a:tc>
              </a:tr>
              <a:tr h="146304">
                <a:tc>
                  <a:txBody>
                    <a:bodyPr/>
                    <a:lstStyle/>
                    <a:p>
                      <a:r>
                        <a:t>Endogeneity + Nonlinear 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Deep 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Recovers structural parameters when 1st stage is complex.</a:t>
                      </a:r>
                    </a:p>
                  </a:txBody>
                  <a:tcPr/>
                </a:tc>
              </a:tr>
              <a:tr h="146304">
                <a:tc>
                  <a:txBody>
                    <a:bodyPr/>
                    <a:lstStyle/>
                    <a:p>
                      <a:r>
                        <a:t>Heterogeneity / Targeting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Causal Forests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Data-driven discovery of subgroups (CATE).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Integrating ML into the Economist’s Toolkit</a:t>
            </a:r>
          </a:p>
          <a:p>
            <a:pPr lvl="1"/>
            <a:r>
              <a:t>1. Robustness: Reduces reliance on arbitrary parametric assumptions.</a:t>
            </a:r>
          </a:p>
          <a:p>
            <a:pPr lvl="1"/>
            <a:r>
              <a:t>2. Validation: Methods backed by rigorous asymptotic theory.</a:t>
            </a:r>
          </a:p>
          <a:p>
            <a:pPr lvl="1"/>
            <a:r>
              <a:t>3. Actionable Insight: Moving from ATE to CATE allows for optimal policy targeting.</a:t>
            </a:r>
          </a:p>
          <a:p>
            <a:r>
              <a:t>Final Thought:</a:t>
            </a:r>
          </a:p>
          <a:p>
            <a:pPr lvl="1"/>
            <a:r>
              <a:t>Causal ML automates the 'statistical clean-up', allowing economists to focus on identification.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